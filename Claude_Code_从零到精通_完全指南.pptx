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40000" y="360000"/>
            <a:ext cx="1440000" cy="2340000"/>
          </a:xfrm>
          <a:prstGeom prst="roundRect">
            <a:avLst/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540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8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6A69A"/>
                </a:solidFill>
                <a:latin typeface="Arial"/>
              </a:defRPr>
            </a:pPr>
            <a:r>
              <a:t>从零到精通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512000"/>
            <a:ext cx="2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86A58"/>
                </a:solidFill>
                <a:latin typeface="Arial"/>
              </a:defRPr>
            </a:pPr>
            <a:r>
              <a:t>面向组学分析小白的完全指南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980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55A6E"/>
                </a:solidFill>
                <a:latin typeface="Arial"/>
              </a:defRPr>
            </a:pPr>
            <a:r>
              <a:t>v2.0  |  2026-07-06  |  WSL2 / Linux / macOS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0000" y="900000"/>
            <a:ext cx="7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0">
                <a:solidFill>
                  <a:srgbClr val="FFFFFF"/>
                </a:solidFill>
                <a:latin typeface="Arial"/>
              </a:defRPr>
            </a:pPr>
            <a:r>
              <a:t>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0000" y="1728000"/>
            <a:ext cx="9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Arial"/>
              </a:defRPr>
            </a:pPr>
            <a:r>
              <a:t>💻</a:t>
            </a:r>
            <a:br/>
            <a:r>
              <a:t>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📋 内容总览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57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2000" y="63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000" y="73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认识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000" y="88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什么是AI编程助手？三种运行模式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96000" y="57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68000" y="63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8000" y="73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环境准备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8000" y="88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nvm + Node.js 安装（3种系统）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2000" y="57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4000" y="63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4000" y="73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安装 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4000" y="88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3种方式 + 常见错误解决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8000" y="57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0" y="63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0" y="73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认证配置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0" y="88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MiniMax / Anthropic API + 变体说明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0000" y="111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000" y="117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0" y="127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三层配置架构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0" y="142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全局→项目→本地，灵活切换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96000" y="111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8000" y="117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8000" y="127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核心参数详解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68000" y="142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model / permissionMode / 超时等8个参数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12000" y="111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84000" y="117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4000" y="127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模型选择策略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84000" y="142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M2.7 vs M3 对比 + 推荐策略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28000" y="111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00000" y="117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00000" y="127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权限模式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0000" y="142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4种模式对比 + 安全建议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0000" y="165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2000" y="171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2000" y="181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CLAUDE.md 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2000" y="196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记忆文件 — 关键步骤！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96000" y="165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68000" y="171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68000" y="181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IDE 与终端集成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68000" y="196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VS Code / JetBrains / 本地终端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12000" y="165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484000" y="171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4000" y="181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命令速查表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84000" y="196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启动/会话内命令/快捷键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528000" y="165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0" y="171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00000" y="181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实战工作流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00000" y="196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新项目/审查/Bug/单细胞分析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80000" y="2196000"/>
            <a:ext cx="1044000" cy="468000"/>
          </a:xfrm>
          <a:prstGeom prst="roundRect">
            <a:avLst>
              <a:gd name="adj" fmla="val 3000"/>
            </a:avLst>
          </a:prstGeom>
          <a:solidFill>
            <a:srgbClr val="14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2000" y="2250000"/>
            <a:ext cx="28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2000" y="2358000"/>
            <a:ext cx="9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FAQ 故障排查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2000" y="2502000"/>
            <a:ext cx="9000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10个常见问题+解决方案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认识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AI 编程助手简介 · 三种运行模式 · 与其他工具对比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🤖 什么是 Claude Code？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2160000" cy="115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57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8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📖 阅读和理解你的代码项目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2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✏️ 编辑、创建、删除文件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8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🖥️ 执行终端命令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5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🔍 搜索代码、分析逻辑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1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🐛 定位和修复 Bug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67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📊 生成报告和文档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20000" y="468000"/>
            <a:ext cx="2160000" cy="115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0000" y="576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三种运行模式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8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🔹 交互式会话：claude（多轮对话）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0000" y="102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🔹 单次问答：claude -p "问题"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0000" y="118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🔹 管道模式：echo "..." | claude -p -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80000" y="1800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1620000"/>
                <a:gridCol w="162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优势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命令行 AI 编程助手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⭐ 终端原生，可读写文件执行命令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IDE 代码补全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编码时自动提示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AI 编辑器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完整 IDE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ChatGPT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通用对话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Web/App 跨平台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环境准备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nvm + Node.js 安装（WSL/Linux · macOS · Windows）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📦 安装 nvm 和 Node.js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2160000" cy="126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5760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WSL /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7128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curl -o- https://raw.githubusercontent.com/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8496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nvm-sh/nvm/v0.40.3/install.sh | bash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9864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source ~/.bashrc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1232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nvm --version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2600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96000" y="13968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macOS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5336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brew install nvm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16704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mkdir ~/.nvm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18072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echo 'export NVM_DIR="$HOME/.nvm"' &gt;&gt; ~/.zshrc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20000" y="468000"/>
            <a:ext cx="2160000" cy="126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6000" y="5760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Windows（推荐WSL2）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6000" y="7128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wsl --install -d Ubuntu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6000" y="8496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进入WSL后按Linux流程操作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6000" y="9864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2736000" y="11232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安装Node.js 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6000" y="12600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nvm install --lts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6000" y="13968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nvm use --lts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6000" y="15336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2736000" y="16704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6000" y="18072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node --version  # v22/v24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6000" y="19440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npm --version   # 10+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0000" y="1872000"/>
            <a:ext cx="4500000" cy="288000"/>
          </a:xfrm>
          <a:prstGeom prst="roundRect">
            <a:avLst>
              <a:gd name="adj" fmla="val 2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000" y="190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Arial"/>
              </a:defRPr>
            </a:pPr>
            <a:r>
              <a:t>⚠️ 要求 Node.js ≥ 18。推荐 LTS 版本。不要用 sudo npm install -g！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安装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三种安装方式 · 错误排查 · 更新升级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📥 安装 &amp; 常见错误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1440000" cy="90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5760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方式A：npm全局（推荐）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7128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npm install -g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8496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@anthropic-ai/claude-code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9864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claude --version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1232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96000" y="12600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方式B：npx直接运行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3968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npx @anthropic-ai/claude-code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5336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96000" y="16704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方式C：更新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18072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npm update -g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1944000"/>
            <a:ext cx="100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@anthropic-ai/claude-code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800000" y="468000"/>
          <a:ext cx="288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720000"/>
                <a:gridCol w="108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错误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解决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command not found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PATH 不含全局 bin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export PATH="$HOME/..."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EACCES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权限不足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不要用sudo；用nvm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npm ERR! 404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registry 问题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npm config set registry...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Node too 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Node &lt; 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nvm install --lts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180000" y="1872000"/>
            <a:ext cx="4500000" cy="288000"/>
          </a:xfrm>
          <a:prstGeom prst="roundRect">
            <a:avLst>
              <a:gd name="adj" fmla="val 2000"/>
            </a:avLst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00" y="190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546A"/>
                </a:solidFill>
                <a:latin typeface="Arial"/>
              </a:defRPr>
            </a:pPr>
            <a:r>
              <a:t>💡 安装后务必运行 claude --version 验证，确认输出类似 "2.1.177 (Claude Code)"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认证配置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MiniMax API（国内）· Anthropic 官方（海外）· API 变体说明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🔑 MiniMax API 配置（国内用户首选）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2700000" cy="1620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6000" y="5760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cat &gt; ~/.claude/settings.json &lt;&lt; 'EOF'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000" y="7128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{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8496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"model": "MiniMax-M2.7",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6000" y="9864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"permissionMode": "acceptEdits",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1232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"env":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2600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"ANTHROPIC_BASE_URL":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13968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  "https://api.minimax.chat/anthropic",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15336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"ANTHROPIC_API_KEY": "sk-你的Key",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16704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"API_TIMEOUT_MS": "600000",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18072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"DISABLE_NONESSENTIAL_TRAFFIC": "1"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19440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},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20808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"autoCompact":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6000" y="22176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"enabled": true,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00" y="23544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"maxTokens": 512000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000" y="24912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26280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000" y="2764800"/>
            <a:ext cx="226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0000" y="468000"/>
            <a:ext cx="1620000" cy="16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0000" y="576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58"/>
                </a:solidFill>
                <a:latin typeface="Arial"/>
              </a:defRPr>
            </a:pPr>
            <a:r>
              <a:t>⚠️ API 变体说明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0000" y="864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  <a:r>
              <a:t>不同环境API地址不同：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0000" y="1026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  <a:r>
              <a:t>  • 海外版：api.minimax.chat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0000" y="1188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  <a:r>
              <a:t>  • 国内版：api.minimaxi.com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0000" y="135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3240000" y="1512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  <a:r>
              <a:t>认证字段名也不同：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0000" y="1674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  <a:r>
              <a:t>  • API_KEY（海外版）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0000" y="1836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  <a:r>
              <a:t>  • AUTH_TOKEN（国内版）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0000" y="1998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3240000" y="21600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6A58"/>
                </a:solidFill>
                <a:latin typeface="Arial"/>
              </a:defRPr>
            </a:pPr>
            <a:r>
              <a:t>如401错误请换字段名重试！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0000" y="2232000"/>
            <a:ext cx="4500000" cy="216000"/>
          </a:xfrm>
          <a:prstGeom prst="roundRect">
            <a:avLst>
              <a:gd name="adj" fmla="val 2000"/>
            </a:avLst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8000" y="225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C546A"/>
                </a:solidFill>
                <a:latin typeface="Arial"/>
              </a:defRPr>
            </a:pPr>
            <a:r>
              <a:t>🔑 获取 Key：platform.minimax.chat → 控制台 → API Keys → 创建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三层配置架构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全局 → 项目 → 本地 · 优先级合并 · 安全建议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🏗️ 三层配置合并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468000"/>
          <a:ext cx="2879999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00"/>
                <a:gridCol w="1007999"/>
                <a:gridCol w="432000"/>
                <a:gridCol w="288000"/>
                <a:gridCol w="72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层级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范围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Git？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典型用途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全局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~/.claude/settings.json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所有项目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API认证、默认模型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&lt;项目&gt;/.claude/settings.json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当前项目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项目特定模型/权限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本地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&lt;项目&gt;/.claude/settings.local.json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本机+项目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个人Key（不入Git）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40000" y="468000"/>
            <a:ext cx="1440000" cy="108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0000" y="57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合并示例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0" y="864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全局: model=M2.7, perm=default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0" y="1026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项目: model=M3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0000" y="118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─────────────────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0000" y="135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最终: model=M3, perm=default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0000" y="151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20000" y="1674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✅ 项目级 model 覆盖全局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0000" y="1836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✅ 全局 perm 保留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" y="1980000"/>
            <a:ext cx="4500000" cy="288000"/>
          </a:xfrm>
          <a:prstGeom prst="roundRect">
            <a:avLst>
              <a:gd name="adj" fmla="val 2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2015999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Arial"/>
              </a:defRPr>
            </a:pPr>
            <a:r>
              <a:t>⚠️ settings.local.json 包含 API Key，必须加入 .gitignore！绝对不要提交到 Git！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核心参数详解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model · permissionMode · autoCompact · API_TIMEOUT_MS 等 8 个参数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⚙️ 8 个核心参数速查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468000"/>
          <a:ext cx="4500000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900000"/>
                <a:gridCol w="1080000"/>
                <a:gridCol w="108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推荐值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使用的模型名称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MiniMax-M2.7（日常）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permissionMode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权限控制模式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acceptEdits（推荐）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autoCompact.enabled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自动压缩长对话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autoCompact.maxTokens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触发压缩的阈值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512000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API_TIMEOUT_MS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600000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API超时（毫秒）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600000（10分钟）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DISABLE_NONESSENTIAL_TRAFFIC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禁用遥测保护隐私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CLAUDE_CODE_DISABLE_TERMINAL_TITLE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禁止修改终端标题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CLAUDE_CODE_MAX_OUTPUT_TOKENS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最大输出token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按需设置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80000" y="1980000"/>
            <a:ext cx="4500000" cy="288000"/>
          </a:xfrm>
          <a:prstGeom prst="roundRect">
            <a:avLst>
              <a:gd name="adj" fmla="val 2000"/>
            </a:avLst>
          </a:prstGeom>
          <a:solidFill>
            <a:srgbClr val="D1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8000" y="2015999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546A"/>
                </a:solidFill>
                <a:latin typeface="Arial"/>
              </a:defRPr>
            </a:pPr>
            <a:r>
              <a:t>💡 API_TIMEOUT_MS 注意：太短频繁超时（300000=5min），太长等太久。600000（10分钟）是甜点。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模型选择策略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MiniMax-M2.7 vs M3 对比 · 推荐策略 · 运行时切换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🧩 MiniMax 模型对比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1980000" cy="14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576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⚡ MiniMax-M2.7 — 均衡型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864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⭐ 推荐日常使用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2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60000" y="118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响应速度快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50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推理能力 ⭐⭐⭐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12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代码质量 ⭐⭐⭐⭐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674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成本中等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83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360000" y="199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→ 适用于：问答、代码解释、脚本编写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0000" y="468000"/>
            <a:ext cx="1980000" cy="14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0000" y="576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6A58"/>
                </a:solidFill>
                <a:latin typeface="Arial"/>
              </a:defRPr>
            </a:pPr>
            <a:r>
              <a:t>🏆 MiniMax-M3 — 旗舰型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0000" y="864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⭐ 推荐复杂任务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0000" y="102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2520000" y="118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响应速度中等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0000" y="1350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推理能力 ⭐⭐⭐⭐⭐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20000" y="1512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代码质量 ⭐⭐⭐⭐⭐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0000" y="1674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成本较高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0000" y="1836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2520000" y="1998000"/>
            <a:ext cx="16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→ 适用于：大型重构、算法设计、深度分析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000" y="2088000"/>
            <a:ext cx="2160000" cy="432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6000" y="21960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# 运行时切换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6000" y="23328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claude --model MiniMax-M3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6000" y="2469600"/>
            <a:ext cx="172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DD6F4"/>
                </a:solidFill>
                <a:latin typeface="Consolas"/>
              </a:defRPr>
            </a:pPr>
            <a:r>
              <a:t>&gt; /model  （交互式会话中切换）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权限模式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四种模式对比 · 安全建议 · 场景选择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🔐 四种权限模式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468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540000"/>
                <a:gridCol w="540000"/>
                <a:gridCol w="540000"/>
                <a:gridCol w="18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模式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读文件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编辑文件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执行命令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 自动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⚠️ 确认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⚠️ 确认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新手 · 生产环境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acceptEdits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 自动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 自动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⚠️ 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⭐ 日常使用（推荐）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bypassPermissions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 自动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 自动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 自动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完全信任环境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✅ 只读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❌ 禁止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❌ 禁止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仅分析不出手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" y="1440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234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推荐模式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个人开发环境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acceptEdits 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自动接受编辑，命令仍需确认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生产服务器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最高安全级别，所有操作需确认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代码审查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plan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只读模式，不会修改任何文件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CI/CD自动化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bypassPermissions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完全自动化（需配合沙箱）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CLAUDE.md 记忆文件 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关键步骤！5分钟配置，持续受益 · 全局 / 项目级 · /init 自动生成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🧠 CLAUDE.md — Claude 的长期记忆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32000"/>
            <a:ext cx="4500000" cy="288000"/>
          </a:xfrm>
          <a:prstGeom prst="roundRect">
            <a:avLst>
              <a:gd name="adj" fmla="val 2000"/>
            </a:avLst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4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A58"/>
                </a:solidFill>
                <a:latin typeface="Arial"/>
              </a:defRPr>
            </a:pPr>
            <a:r>
              <a:t>🚨 不配置 CLAUDE.md，Claude 就像不了解你的新同事！回复质量大打折扣！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0000" y="827999"/>
          <a:ext cx="450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440000"/>
                <a:gridCol w="216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不配置 ❌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配置 ✅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了解工作背景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每次都需解释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自动记住，一次配置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回复质量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泛泛而谈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精准匹配你的场景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Token消耗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更高（重复说明）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更低（一次配置）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使用体验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像陌生人帮忙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像默契搭档 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0000" y="1620000"/>
            <a:ext cx="216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72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全局 CLAUDE.md（所有项目生效）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01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~/.claude/CLAUDE.md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17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0000" y="234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身份：生物信息学研究员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50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工具：dnbc4tools, STARsolo, Seurat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6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偏好：Python uv, R renv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282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注释中文，变量名英文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20000" y="1620000"/>
            <a:ext cx="2160000" cy="9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0000" y="1728000"/>
            <a:ext cx="1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项目级 CLAUDE.md + /init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0000" y="201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&lt;项目&gt;/.claude/CLAUDE.md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0000" y="217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2700000" y="2340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项目结构、关键约定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0" y="250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• 用 /init 自动生成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0000" y="2664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2700000" y="2826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💡 只需5分钟，持续提升回复质量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IDE 与终端集成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VS Code · JetBrains · 本地终端 Skill 注册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🔌 IDE 集成 &amp; 本地终端 Skill 注册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1440000" cy="7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57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VS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864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在终端面板输入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26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或安装 Claude Code 扩展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28000" y="468000"/>
            <a:ext cx="1440000" cy="7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8000" y="57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JetBrains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8000" y="864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打开 Terminal (Alt+F12)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8000" y="1026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直接输入 claude 命令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6000" y="468000"/>
            <a:ext cx="1440000" cy="72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000" y="576000"/>
            <a:ext cx="1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本地终端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000" y="864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终端直接使用 claude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000" y="1026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或通过 AI Agent 调用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000" y="1368000"/>
            <a:ext cx="4500000" cy="115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1476000"/>
            <a:ext cx="41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6A69A"/>
                </a:solidFill>
                <a:latin typeface="Arial"/>
              </a:defRPr>
            </a:pPr>
            <a:r>
              <a:t>🏗️ 将 Claude-test Skill 注册到 本地终端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1764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Windows（便携版）：%USERPROFILE%\.本地终端\skills\claude-test\SKILL.md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1926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Windows（安装版）：%APPDATA%\本地终端\skills\claude-test\SKILL.md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2088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Linux / WSL：~/.config/本地终端/skills/claude-test/SKILL.md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2250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60000" y="2412000"/>
            <a:ext cx="41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55A6E"/>
                </a:solidFill>
                <a:latin typeface="Arial"/>
              </a:defRPr>
            </a:pPr>
            <a:r>
              <a:t>→ 注册后在 本地终端 输入 $claude-test 即可加载此技能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命令速查表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启动命令 · 会话内命令 · 快捷键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⌨️ 命令速查表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468000"/>
          <a:ext cx="144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54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启动命令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交互式会话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claude -p "?"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单次问答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claude --version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查看版本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claude -c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继续上次会话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00000" y="468000"/>
          <a:ext cx="1440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54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会话内命令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/help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帮助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/init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生成 CLAUDE.md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/compact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压缩对话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/cost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查看费用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/model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切换模型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/permission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切换权限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20000" y="468000"/>
          <a:ext cx="1260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"/>
                <a:gridCol w="72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快捷键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Ctrl+C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中断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Ctrl+D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退出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Ctrl+L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清屏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Shift+Enter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B2A3A"/>
                          </a:solidFill>
                        </a:defRPr>
                      </a:pPr>
                      <a:r>
                        <a:t>换行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四个实战工作流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新项目上手 · 代码审查 · Bug修复 · 单细胞数据分析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🔬 四个典型工作流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3060000" cy="5039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8000" y="576000"/>
            <a:ext cx="288000" cy="2880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999" y="540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Arial"/>
              </a:defRPr>
            </a:pPr>
            <a:r>
              <a:t>新项目上手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999" y="719999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55A6E"/>
                </a:solidFill>
                <a:latin typeface="Arial"/>
              </a:defRPr>
            </a:pPr>
            <a:r>
              <a:t>理解项目结构 + 依赖 + /init → cd project; claude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" y="990000"/>
            <a:ext cx="3060000" cy="5039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8000" y="1098000"/>
            <a:ext cx="288000" cy="2880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3999" y="1062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Arial"/>
              </a:defRPr>
            </a:pPr>
            <a:r>
              <a:t>代码审查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999" y="1241999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55A6E"/>
                </a:solidFill>
                <a:latin typeface="Arial"/>
              </a:defRPr>
            </a:pPr>
            <a:r>
              <a:t>Review git diff → claude -p "Review..."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" y="1512000"/>
            <a:ext cx="3060000" cy="5039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8000" y="1620000"/>
            <a:ext cx="288000" cy="2880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99" y="1584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Arial"/>
              </a:defRPr>
            </a:pPr>
            <a:r>
              <a:t>Bug 修复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999" y="1763999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55A6E"/>
                </a:solidFill>
                <a:latin typeface="Arial"/>
              </a:defRPr>
            </a:pPr>
            <a:r>
              <a:t>运行测试→分析→修复→验证 → 交互式多轮对话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000" y="2034000"/>
            <a:ext cx="3060000" cy="5039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8000" y="2142000"/>
            <a:ext cx="288000" cy="28800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99" y="2106000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Arial"/>
              </a:defRPr>
            </a:pPr>
            <a:r>
              <a:t>单细胞分析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99" y="2285999"/>
            <a:ext cx="23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55A6E"/>
                </a:solidFill>
                <a:latin typeface="Arial"/>
              </a:defRPr>
            </a:pPr>
            <a:r>
              <a:t>dnbc4tools / STARsolo / 索引校验 → 检查FASTQ→校验索引→生成命令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1260000"/>
            <a:ext cx="540000" cy="144000"/>
          </a:xfrm>
          <a:prstGeom prst="roundRect">
            <a:avLst/>
          </a:prstGeom>
          <a:solidFill>
            <a:srgbClr val="E86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540000"/>
            <a:ext cx="1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Arial"/>
              </a:defRPr>
            </a:pPr>
            <a:r>
              <a:t>CHAPTER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007999"/>
            <a:ext cx="43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FAQ 故障排查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512000"/>
            <a:ext cx="43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6A69A"/>
                </a:solidFill>
                <a:latin typeface="Arial"/>
              </a:defRPr>
            </a:pPr>
            <a:r>
              <a:t>10 个常见问题 + 快速解决方案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0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Arial"/>
              </a:defRPr>
            </a:pPr>
            <a:r>
              <a:t>🔧 常见问题快速解决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468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4000" y="50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000" y="66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command not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" y="104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export PATH="$HOME/.nvm/.../bin:$PATH"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0000" y="468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4000" y="50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4000" y="66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401 Unauthorized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4000" y="104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换 ANTHROPIC_AUTH_TOKEN 试试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0000" y="468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4000" y="50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4000" y="66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Request timed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4000" y="104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API_TIMEOUT_MS 调大或检查网络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000" y="468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4000" y="50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4000" y="66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Model not found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4000" y="104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检查模型名拼写，确认平台支持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0000" y="468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34000" y="50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4000" y="66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Token 超限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4000" y="1044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/compact 压缩对话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0000" y="1512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4000" y="15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4000" y="171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权限确认太频繁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4000" y="208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改 permissionMode: acceptEdits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0000" y="1512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34000" y="15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4000" y="171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npm 安装失败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4000" y="208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npm cache clean，换 registry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80000" y="1512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34000" y="15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4000" y="171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Node 版本太旧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34000" y="208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nvm install --lts &amp;&amp; nvm use --lts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80000" y="1512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34000" y="15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34000" y="171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对话卡顿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34000" y="208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/compact 手动压缩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780000" y="1512000"/>
            <a:ext cx="827999" cy="9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34000" y="154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6A69A"/>
                </a:solidFill>
                <a:latin typeface="Arial"/>
              </a:defRPr>
            </a:pPr>
            <a:r>
              <a:t>Q10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34000" y="1710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D1B2A"/>
                </a:solidFill>
                <a:latin typeface="Arial"/>
              </a:defRPr>
            </a:pPr>
            <a:r>
              <a:t>切换 API 提供商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34000" y="2088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55A6E"/>
                </a:solidFill>
                <a:latin typeface="Arial"/>
              </a:defRPr>
            </a:pPr>
            <a:r>
              <a:t>→ 编辑 ANTHROPIC_BASE_URL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592000"/>
            <a:ext cx="12191695" cy="10800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39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🚀 开始你的 Claude Code 之旅！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68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6A69A"/>
                </a:solidFill>
                <a:latin typeface="Arial"/>
              </a:defRPr>
            </a:pPr>
            <a:r>
              <a:t>从零到精通，只需 10-15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800000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5A6E"/>
                </a:solidFill>
                <a:latin typeface="Arial"/>
              </a:defRPr>
            </a:pPr>
            <a:r>
              <a:t>https://github.com/ZhaoLabs-SJTU/Claude-test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